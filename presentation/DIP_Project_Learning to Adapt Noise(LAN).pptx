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47" autoAdjust="0"/>
    <p:restoredTop sz="94660"/>
  </p:normalViewPr>
  <p:slideViewPr>
    <p:cSldViewPr>
      <p:cViewPr varScale="1">
        <p:scale>
          <a:sx n="126" d="100"/>
          <a:sy n="126" d="100"/>
        </p:scale>
        <p:origin x="117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2965" y="4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3DAE18-FF53-43C8-B129-B2254E0CD35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4C594C-BB62-4D1A-AA15-460CAB0268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AB0719-0C0B-4FCD-8C42-A758D216E1BD}" type="datetimeFigureOut">
              <a:rPr lang="en-US" smtClean="0"/>
              <a:t>11/13/25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7CD9E3-2F3C-4226-A22C-6BC586ACB3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FA062-CF80-4049-B333-6A99FEE14B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DC2621-7037-4E35-B549-8255C904F6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48871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925A17EF-115B-4BB9-BF42-426DFD9E898A}" type="datetimeFigureOut">
              <a:rPr lang="en-US" smtClean="0"/>
              <a:pPr/>
              <a:t>11/13/25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7C4E7652-46AF-4259-BAE2-54978EA077C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0284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4E7652-46AF-4259-BAE2-54978EA077C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26902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4E7652-46AF-4259-BAE2-54978EA077C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1757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4E7652-46AF-4259-BAE2-54978EA077C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309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4E7652-46AF-4259-BAE2-54978EA077C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3702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4E7652-46AF-4259-BAE2-54978EA077C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6559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4E7652-46AF-4259-BAE2-54978EA077C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3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4E7652-46AF-4259-BAE2-54978EA077C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60379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4E7652-46AF-4259-BAE2-54978EA077C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3460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C4E7652-46AF-4259-BAE2-54978EA077C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640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sv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770D99E-2869-438B-B483-1F6CCD5437EE}"/>
              </a:ext>
            </a:extLst>
          </p:cNvPr>
          <p:cNvGrpSpPr/>
          <p:nvPr userDrawn="1"/>
        </p:nvGrpSpPr>
        <p:grpSpPr>
          <a:xfrm>
            <a:off x="-1" y="-10825"/>
            <a:ext cx="9144002" cy="6515395"/>
            <a:chOff x="-1" y="-10825"/>
            <a:chExt cx="9144002" cy="6515395"/>
          </a:xfrm>
        </p:grpSpPr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F66236F9-EA1F-4D2A-84DE-EC04F9972C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7200" y="-10825"/>
              <a:ext cx="3429000" cy="3181546"/>
            </a:xfrm>
            <a:prstGeom prst="rect">
              <a:avLst/>
            </a:prstGeom>
          </p:spPr>
        </p:pic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32A12C4E-53AE-4900-9783-F619054408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295401" y="-10825"/>
              <a:ext cx="7848600" cy="3522243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A14E049B-6FD4-487E-927B-506983629A3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831825" y="2232482"/>
              <a:ext cx="1282976" cy="1108588"/>
            </a:xfrm>
            <a:prstGeom prst="rect">
              <a:avLst/>
            </a:prstGeom>
          </p:spPr>
        </p:pic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EF27E3F5-0D4D-492C-8A3E-50BC30CEFD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-1" y="2962082"/>
              <a:ext cx="2757625" cy="3542488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36D4FF91-8818-4598-AC9F-B8C2FA867C0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2" y="2313169"/>
              <a:ext cx="2259131" cy="2895506"/>
            </a:xfrm>
            <a:prstGeom prst="rect">
              <a:avLst/>
            </a:prstGeom>
          </p:spPr>
        </p:pic>
      </p:grp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276600" y="1213332"/>
            <a:ext cx="5326856" cy="1425577"/>
          </a:xfrm>
        </p:spPr>
        <p:txBody>
          <a:bodyPr anchor="b"/>
          <a:lstStyle>
            <a:lvl1pPr algn="r">
              <a:defRPr sz="45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724400" y="3849666"/>
            <a:ext cx="3879056" cy="1234575"/>
          </a:xfrm>
          <a:noFill/>
        </p:spPr>
        <p:txBody>
          <a:bodyPr/>
          <a:lstStyle>
            <a:lvl1pPr marL="0" marR="36576" indent="0" algn="l">
              <a:spcBef>
                <a:spcPts val="0"/>
              </a:spcBef>
              <a:buNone/>
              <a:defRPr>
                <a:ln>
                  <a:noFill/>
                </a:ln>
                <a:solidFill>
                  <a:schemeClr val="bg2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2812256" y="6322007"/>
            <a:ext cx="5791200" cy="365125"/>
          </a:xfrm>
          <a:prstGeom prst="rect">
            <a:avLst/>
          </a:prstGeom>
        </p:spPr>
        <p:txBody>
          <a:bodyPr tIns="0" bIns="0" anchor="t"/>
          <a:lstStyle>
            <a:lvl1pPr algn="r">
              <a:defRPr sz="1000"/>
            </a:lvl1pPr>
          </a:lstStyle>
          <a:p>
            <a:pPr algn="r"/>
            <a:fld id="{A2E209FB-7A34-414B-812A-BCC5C4256F49}" type="datetime1">
              <a:rPr lang="en-US" smtClean="0"/>
              <a:pPr algn="r"/>
              <a:t>11/13/25</a:t>
            </a:fld>
            <a:endParaRPr lang="en-US" sz="1000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12256" y="5960055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pPr algn="r"/>
            <a:endParaRPr lang="en-US" sz="11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395"/>
            <a:ext cx="4876800" cy="79930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15000" y="173195"/>
            <a:ext cx="2468880" cy="300831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www.website.com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243F-3000-4347-94A4-FBDEAD3122C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ABB0C64-AD16-4270-8323-3B986F4CAD10}"/>
              </a:ext>
            </a:extLst>
          </p:cNvPr>
          <p:cNvGrpSpPr/>
          <p:nvPr userDrawn="1"/>
        </p:nvGrpSpPr>
        <p:grpSpPr>
          <a:xfrm>
            <a:off x="5105399" y="3142"/>
            <a:ext cx="4038601" cy="1101851"/>
            <a:chOff x="5334000" y="-37306"/>
            <a:chExt cx="3281716" cy="895350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323EE1CF-2D6B-4E08-B98D-D9F9B91968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448301" y="-37306"/>
              <a:ext cx="3167415" cy="60960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2AA44434-8959-4391-901A-0B056114A27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334000" y="-37306"/>
              <a:ext cx="819150" cy="895350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3133CFB-98CB-4408-8818-24F931AC1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EE7E31-13F0-404F-BFFF-EE236EB5D4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www.website.com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C6F67-BAE4-413D-8066-1E361D5891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9598980-D22C-4904-9F8F-3DB09B2ECD8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F566D8F-E696-41DE-BA1C-A8D0C7F03E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5655"/>
            <a:ext cx="7726680" cy="571500"/>
          </a:xfrm>
        </p:spPr>
        <p:txBody>
          <a:bodyPr>
            <a:normAutofit/>
          </a:bodyPr>
          <a:lstStyle>
            <a:lvl1pPr marL="64008" indent="0">
              <a:buFont typeface="Arial" panose="020B0604020202020204" pitchFamily="34" charset="0"/>
              <a:buNone/>
              <a:defRPr sz="2000"/>
            </a:lvl1pPr>
            <a:lvl2pPr marL="537210" indent="0">
              <a:buNone/>
              <a:defRPr/>
            </a:lvl2pPr>
            <a:lvl3pPr marL="877824" indent="0">
              <a:buNone/>
              <a:defRPr/>
            </a:lvl3pPr>
            <a:lvl4pPr marL="1161288" indent="0">
              <a:buNone/>
              <a:defRPr/>
            </a:lvl4pPr>
            <a:lvl5pPr marL="1389888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878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791200" y="173195"/>
            <a:ext cx="2355056" cy="301752"/>
          </a:xfrm>
        </p:spPr>
        <p:txBody>
          <a:bodyPr/>
          <a:lstStyle/>
          <a:p>
            <a:r>
              <a:rPr lang="en-US" dirty="0"/>
              <a:t>www.website.com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32CA5EA-865E-4EF0-89BB-61FD6EFE2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80070" y="173195"/>
            <a:ext cx="502920" cy="301752"/>
          </a:xfrm>
        </p:spPr>
        <p:txBody>
          <a:bodyPr/>
          <a:lstStyle/>
          <a:p>
            <a:fld id="{FEA1243F-3000-4347-94A4-FBDEAD3122C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295400"/>
            <a:ext cx="914400" cy="5015864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5856" y="1295400"/>
            <a:ext cx="2438400" cy="5015864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51250" y="1295400"/>
            <a:ext cx="5276088" cy="501396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67400" y="173195"/>
            <a:ext cx="2324196" cy="301752"/>
          </a:xfrm>
        </p:spPr>
        <p:txBody>
          <a:bodyPr/>
          <a:lstStyle>
            <a:lvl1pPr>
              <a:defRPr sz="1200"/>
            </a:lvl1pPr>
          </a:lstStyle>
          <a:p>
            <a:r>
              <a:rPr lang="en-US" dirty="0"/>
              <a:t>www.website.com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BD5BE3E6-AFB3-460C-834B-D73EE2A7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191596" y="173195"/>
            <a:ext cx="502920" cy="301752"/>
          </a:xfrm>
        </p:spPr>
        <p:txBody>
          <a:bodyPr/>
          <a:lstStyle>
            <a:lvl1pPr>
              <a:defRPr sz="1200"/>
            </a:lvl1pPr>
          </a:lstStyle>
          <a:p>
            <a:fld id="{FEA1243F-3000-4347-94A4-FBDEAD3122C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12" Type="http://schemas.openxmlformats.org/officeDocument/2006/relationships/image" Target="../media/image7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6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5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png"/><Relationship Id="rId14" Type="http://schemas.openxmlformats.org/officeDocument/2006/relationships/image" Target="../media/image9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1423E8A4-D2B7-46D2-92C3-AE6BC0B9BD06}"/>
              </a:ext>
            </a:extLst>
          </p:cNvPr>
          <p:cNvGrpSpPr/>
          <p:nvPr userDrawn="1"/>
        </p:nvGrpSpPr>
        <p:grpSpPr>
          <a:xfrm>
            <a:off x="5105399" y="3142"/>
            <a:ext cx="4038601" cy="1101851"/>
            <a:chOff x="5334000" y="-37306"/>
            <a:chExt cx="3281716" cy="895350"/>
          </a:xfrm>
        </p:grpSpPr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9309AE25-B267-4B83-A0CB-35016E70EE6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448301" y="-37306"/>
              <a:ext cx="3167415" cy="609600"/>
            </a:xfrm>
            <a:prstGeom prst="rect">
              <a:avLst/>
            </a:prstGeom>
          </p:spPr>
        </p:pic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61BEEC28-F63A-4526-A6C3-33CFC7679C2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334000" y="-37306"/>
              <a:ext cx="819150" cy="895350"/>
            </a:xfrm>
            <a:prstGeom prst="rect">
              <a:avLst/>
            </a:prstGeom>
          </p:spPr>
        </p:pic>
      </p:grp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66725" y="381198"/>
            <a:ext cx="4638674" cy="675926"/>
          </a:xfrm>
          <a:prstGeom prst="rect">
            <a:avLst/>
          </a:prstGeom>
        </p:spPr>
        <p:txBody>
          <a:bodyPr vert="horz" lIns="0" rIns="0" anchor="ctr">
            <a:noAutofit/>
          </a:bodyPr>
          <a:lstStyle/>
          <a:p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566839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867400" y="174116"/>
            <a:ext cx="2212182" cy="300831"/>
          </a:xfrm>
          <a:prstGeom prst="rect">
            <a:avLst/>
          </a:prstGeom>
        </p:spPr>
        <p:txBody>
          <a:bodyPr vert="horz" anchor="b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www.website.com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83880" y="173195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>
              <a:defRPr sz="1200" b="1">
                <a:solidFill>
                  <a:schemeClr val="bg2"/>
                </a:solidFill>
              </a:defRPr>
            </a:lvl1pPr>
          </a:lstStyle>
          <a:p>
            <a:fld id="{49598980-D22C-4904-9F8F-3DB09B2ECD8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41E45D2D-0469-4652-A090-C4D13F3C1502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0" y="5307178"/>
            <a:ext cx="1219200" cy="1550822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16C04FF8-AE2F-4C75-8657-A2201B95197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-16459" y="4545317"/>
            <a:ext cx="1248460" cy="1570328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52" r:id="rId4"/>
    <p:sldLayoutId id="2147483656" r:id="rId5"/>
  </p:sldLayoutIdLst>
  <p:txStyles>
    <p:titleStyle>
      <a:lvl1pPr marL="182880" algn="l" rtl="0" eaLnBrk="1" latinLnBrk="0" hangingPunct="1">
        <a:spcBef>
          <a:spcPct val="0"/>
        </a:spcBef>
        <a:buNone/>
        <a:defRPr sz="4000" b="1" kern="1200">
          <a:ln w="6350">
            <a:noFill/>
          </a:ln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SzPct val="80000"/>
        <a:buFont typeface="Arial" panose="020B0604020202020204" pitchFamily="34" charset="0"/>
        <a:buChar char="•"/>
        <a:defRPr sz="2800" kern="1200">
          <a:solidFill>
            <a:schemeClr val="bg2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SzPct val="95000"/>
        <a:buFont typeface="Arial" panose="020B0604020202020204" pitchFamily="34" charset="0"/>
        <a:buChar char="•"/>
        <a:defRPr sz="2400" kern="1200">
          <a:solidFill>
            <a:schemeClr val="bg2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2051720" y="332656"/>
            <a:ext cx="6839768" cy="1425577"/>
          </a:xfrm>
        </p:spPr>
        <p:txBody>
          <a:bodyPr/>
          <a:lstStyle/>
          <a:p>
            <a:r>
              <a:rPr lang="en-US" sz="2800" dirty="0"/>
              <a:t>LAN: Learning to Adapt Noise for Efficient &amp; Scalable Image </a:t>
            </a:r>
            <a:r>
              <a:rPr lang="en-US" sz="2800" dirty="0" err="1"/>
              <a:t>Denoising</a:t>
            </a:r>
            <a:endParaRPr lang="en-US" sz="2800" b="0" dirty="0"/>
          </a:p>
        </p:txBody>
      </p:sp>
      <p:sp>
        <p:nvSpPr>
          <p:cNvPr id="3" name="Rectangle 2"/>
          <p:cNvSpPr>
            <a:spLocks noGrp="1"/>
          </p:cNvSpPr>
          <p:nvPr>
            <p:ph type="subTitle" idx="1"/>
          </p:nvPr>
        </p:nvSpPr>
        <p:spPr>
          <a:xfrm>
            <a:off x="5004048" y="3849666"/>
            <a:ext cx="4139952" cy="1379534"/>
          </a:xfrm>
        </p:spPr>
        <p:txBody>
          <a:bodyPr>
            <a:normAutofit fontScale="25000" lnSpcReduction="20000"/>
          </a:bodyPr>
          <a:lstStyle/>
          <a:p>
            <a:r>
              <a:rPr lang="en-US" sz="8000" b="1" dirty="0"/>
              <a:t>Team Members:</a:t>
            </a:r>
            <a:endParaRPr lang="en-US" sz="8000" dirty="0"/>
          </a:p>
          <a:p>
            <a:r>
              <a:rPr lang="en-IN" sz="8000" dirty="0"/>
              <a:t>Anish </a:t>
            </a:r>
            <a:r>
              <a:rPr lang="en-IN" sz="8000" dirty="0" err="1"/>
              <a:t>Anandhan</a:t>
            </a:r>
            <a:r>
              <a:rPr lang="en-IN" sz="8000" dirty="0"/>
              <a:t> A L- 22MIS1190</a:t>
            </a:r>
            <a:endParaRPr lang="en-US" sz="8000" dirty="0"/>
          </a:p>
          <a:p>
            <a:r>
              <a:rPr lang="en-US" sz="8000" dirty="0" err="1"/>
              <a:t>Laksharaa</a:t>
            </a:r>
            <a:r>
              <a:rPr lang="en-US" sz="8000" dirty="0"/>
              <a:t> A S – 23MIA1053</a:t>
            </a:r>
          </a:p>
          <a:p>
            <a:r>
              <a:rPr lang="en-US" sz="8000" dirty="0" err="1"/>
              <a:t>Sandheep</a:t>
            </a:r>
            <a:r>
              <a:rPr lang="en-US" sz="8000" dirty="0"/>
              <a:t> S </a:t>
            </a:r>
            <a:r>
              <a:rPr lang="en-US" sz="8000" dirty="0" err="1"/>
              <a:t>S</a:t>
            </a:r>
            <a:r>
              <a:rPr lang="en-US" sz="8000" dirty="0"/>
              <a:t> – 23MIA1161</a:t>
            </a:r>
          </a:p>
          <a:p>
            <a:pPr algn="r"/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Motivation / Problem Statement</a:t>
            </a:r>
            <a:endParaRPr lang="en-US" sz="3500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8FCD5F1-B09D-4B0A-BB07-423B979A6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243F-3000-4347-94A4-FBDEAD3122C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295976" y="1628800"/>
            <a:ext cx="73562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Problem Statement: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Deep </a:t>
            </a:r>
            <a:r>
              <a:rPr lang="en-US" dirty="0" err="1">
                <a:solidFill>
                  <a:schemeClr val="bg1"/>
                </a:solidFill>
              </a:rPr>
              <a:t>denoising</a:t>
            </a:r>
            <a:r>
              <a:rPr lang="en-US" dirty="0">
                <a:solidFill>
                  <a:schemeClr val="bg1"/>
                </a:solidFill>
              </a:rPr>
              <a:t> models trained on one dataset fail under </a:t>
            </a:r>
            <a:r>
              <a:rPr lang="en-US" b="1" dirty="0">
                <a:solidFill>
                  <a:schemeClr val="bg1"/>
                </a:solidFill>
              </a:rPr>
              <a:t>unseen noise</a:t>
            </a:r>
            <a:r>
              <a:rPr lang="en-US" dirty="0">
                <a:solidFill>
                  <a:schemeClr val="bg1"/>
                </a:solidFill>
              </a:rPr>
              <a:t> (domain shift).</a:t>
            </a:r>
          </a:p>
          <a:p>
            <a:r>
              <a:rPr lang="en-US" dirty="0">
                <a:solidFill>
                  <a:schemeClr val="bg1"/>
                </a:solidFill>
              </a:rPr>
              <a:t>Real-world noise is </a:t>
            </a:r>
            <a:r>
              <a:rPr lang="en-US" b="1" dirty="0">
                <a:solidFill>
                  <a:schemeClr val="bg1"/>
                </a:solidFill>
              </a:rPr>
              <a:t>non-Gaussian, sensor-dependent, and signal-dependent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Large transformer models (e.g., </a:t>
            </a:r>
            <a:r>
              <a:rPr lang="en-US" dirty="0" err="1">
                <a:solidFill>
                  <a:schemeClr val="bg1"/>
                </a:solidFill>
              </a:rPr>
              <a:t>Restormer</a:t>
            </a:r>
            <a:r>
              <a:rPr lang="en-US" dirty="0">
                <a:solidFill>
                  <a:schemeClr val="bg1"/>
                </a:solidFill>
              </a:rPr>
              <a:t>) perform well but are </a:t>
            </a:r>
            <a:r>
              <a:rPr lang="en-US" b="1" dirty="0">
                <a:solidFill>
                  <a:schemeClr val="bg1"/>
                </a:solidFill>
              </a:rPr>
              <a:t>slow and resource-heavy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Need a method that: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Adapts to new noise at test time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Works even on lightweight models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Does not require retraining or fine-tuning weights</a:t>
            </a:r>
          </a:p>
          <a:p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Motivation: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Enable </a:t>
            </a:r>
            <a:r>
              <a:rPr lang="en-US" b="1" dirty="0">
                <a:solidFill>
                  <a:schemeClr val="bg1"/>
                </a:solidFill>
              </a:rPr>
              <a:t>real-time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b="1" dirty="0">
                <a:solidFill>
                  <a:schemeClr val="bg1"/>
                </a:solidFill>
              </a:rPr>
              <a:t>on-device</a:t>
            </a:r>
            <a:r>
              <a:rPr lang="en-US" dirty="0">
                <a:solidFill>
                  <a:schemeClr val="bg1"/>
                </a:solidFill>
              </a:rPr>
              <a:t>, and </a:t>
            </a:r>
            <a:r>
              <a:rPr lang="en-US" b="1" dirty="0">
                <a:solidFill>
                  <a:schemeClr val="bg1"/>
                </a:solidFill>
              </a:rPr>
              <a:t>edge-friendly</a:t>
            </a:r>
            <a:r>
              <a:rPr lang="en-US" dirty="0">
                <a:solidFill>
                  <a:schemeClr val="bg1"/>
                </a:solidFill>
              </a:rPr>
              <a:t> adaptive </a:t>
            </a:r>
            <a:r>
              <a:rPr lang="en-US" dirty="0" err="1">
                <a:solidFill>
                  <a:schemeClr val="bg1"/>
                </a:solidFill>
              </a:rPr>
              <a:t>denoising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562238" y="324071"/>
            <a:ext cx="4638674" cy="675926"/>
          </a:xfrm>
        </p:spPr>
        <p:txBody>
          <a:bodyPr/>
          <a:lstStyle/>
          <a:p>
            <a:r>
              <a:rPr lang="en-IN" sz="3600" dirty="0"/>
              <a:t> Paper Summary</a:t>
            </a:r>
            <a:endParaRPr lang="en-US" sz="3600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3114880-DADC-4F85-86A5-B5EC46980D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A1243F-3000-4347-94A4-FBDEAD3122C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873826" y="1231629"/>
            <a:ext cx="753574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Base Paper: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LAN – Learning to Adapt Noise (CVPR 2024)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Key Concept: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LAN introduces a </a:t>
            </a:r>
            <a:r>
              <a:rPr lang="en-US" b="1" dirty="0">
                <a:solidFill>
                  <a:schemeClr val="bg1"/>
                </a:solidFill>
              </a:rPr>
              <a:t>learnable noise offset (ϕ)</a:t>
            </a:r>
            <a:r>
              <a:rPr lang="en-US" dirty="0">
                <a:solidFill>
                  <a:schemeClr val="bg1"/>
                </a:solidFill>
              </a:rPr>
              <a:t> at test time to align unseen noise with training noise.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Advantages: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No weight fine-tuning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Only adapts input (</a:t>
            </a:r>
            <a:r>
              <a:rPr lang="en-US" dirty="0" err="1">
                <a:solidFill>
                  <a:schemeClr val="bg1"/>
                </a:solidFill>
              </a:rPr>
              <a:t>yu</a:t>
            </a:r>
            <a:r>
              <a:rPr lang="en-US" dirty="0">
                <a:solidFill>
                  <a:schemeClr val="bg1"/>
                </a:solidFill>
              </a:rPr>
              <a:t> + ϕ)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Low computational overhead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Self-supervised (no clean images needed)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Limitations of Prior Work: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Demonstrated only on </a:t>
            </a:r>
            <a:r>
              <a:rPr lang="en-US" b="1" dirty="0" err="1">
                <a:solidFill>
                  <a:schemeClr val="bg1"/>
                </a:solidFill>
              </a:rPr>
              <a:t>Restormer</a:t>
            </a:r>
            <a:r>
              <a:rPr lang="en-US" dirty="0">
                <a:solidFill>
                  <a:schemeClr val="bg1"/>
                </a:solidFill>
              </a:rPr>
              <a:t> (large transformer)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Unclear if LAN works for </a:t>
            </a:r>
            <a:r>
              <a:rPr lang="en-US" b="1" dirty="0">
                <a:solidFill>
                  <a:schemeClr val="bg1"/>
                </a:solidFill>
              </a:rPr>
              <a:t>light models</a:t>
            </a:r>
            <a:r>
              <a:rPr lang="en-US" dirty="0">
                <a:solidFill>
                  <a:schemeClr val="bg1"/>
                </a:solidFill>
              </a:rPr>
              <a:t> like CNNs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  <a:p>
            <a:r>
              <a:rPr lang="en-US" b="1" dirty="0">
                <a:solidFill>
                  <a:schemeClr val="bg1"/>
                </a:solidFill>
              </a:rPr>
              <a:t>Our Contribution: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Replace </a:t>
            </a:r>
            <a:r>
              <a:rPr lang="en-US" dirty="0" err="1">
                <a:solidFill>
                  <a:schemeClr val="bg1"/>
                </a:solidFill>
              </a:rPr>
              <a:t>Restormer</a:t>
            </a:r>
            <a:r>
              <a:rPr lang="en-US" dirty="0">
                <a:solidFill>
                  <a:schemeClr val="bg1"/>
                </a:solidFill>
              </a:rPr>
              <a:t> with </a:t>
            </a:r>
            <a:r>
              <a:rPr lang="en-US" b="1" dirty="0" err="1">
                <a:solidFill>
                  <a:schemeClr val="bg1"/>
                </a:solidFill>
              </a:rPr>
              <a:t>NAFNet</a:t>
            </a:r>
            <a:r>
              <a:rPr lang="en-US" dirty="0">
                <a:solidFill>
                  <a:schemeClr val="bg1"/>
                </a:solidFill>
              </a:rPr>
              <a:t> (lightweight CNN)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Show that LAN is </a:t>
            </a:r>
            <a:r>
              <a:rPr lang="en-US" b="1" dirty="0">
                <a:solidFill>
                  <a:schemeClr val="bg1"/>
                </a:solidFill>
              </a:rPr>
              <a:t>backbone-agnostic</a:t>
            </a:r>
            <a:r>
              <a:rPr lang="en-US" dirty="0">
                <a:solidFill>
                  <a:schemeClr val="bg1"/>
                </a:solidFill>
              </a:rPr>
              <a:t> and works equally well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Methodology</a:t>
            </a:r>
            <a:endParaRPr lang="en-US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40447-BBDA-4C18-B81B-B5DA1D4FA8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A1243F-3000-4347-94A4-FBDEAD3122CB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021" y="1268760"/>
            <a:ext cx="7521185" cy="501216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1600" y="5569231"/>
            <a:ext cx="62646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Key Idea:</a:t>
            </a:r>
          </a:p>
          <a:p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LAN adapts noise, not model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weights → stable &amp; efficient.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466725" y="381198"/>
            <a:ext cx="4638674" cy="675926"/>
          </a:xfrm>
        </p:spPr>
        <p:txBody>
          <a:bodyPr/>
          <a:lstStyle/>
          <a:p>
            <a:r>
              <a:rPr lang="en-IN" sz="3600" dirty="0"/>
              <a:t>Experimental Setup</a:t>
            </a:r>
            <a:endParaRPr lang="en-US" sz="3600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CE7FF2C-0D70-4834-8ECF-4D033CBD6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243F-3000-4347-94A4-FBDEAD3122C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264544" y="1057124"/>
            <a:ext cx="784887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solidFill>
                  <a:schemeClr val="bg1"/>
                </a:solidFill>
              </a:rPr>
              <a:t>Pretraining</a:t>
            </a:r>
            <a:r>
              <a:rPr lang="en-IN" b="1" dirty="0">
                <a:solidFill>
                  <a:schemeClr val="bg1"/>
                </a:solidFill>
              </a:rPr>
              <a:t>:</a:t>
            </a:r>
            <a:r>
              <a:rPr lang="en-IN" dirty="0">
                <a:solidFill>
                  <a:schemeClr val="bg1"/>
                </a:solidFill>
              </a:rPr>
              <a:t> SIDD — high-quality paired noisy-clean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Testing (Cross-domain):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PolyU</a:t>
            </a:r>
            <a:r>
              <a:rPr lang="en-IN" dirty="0">
                <a:solidFill>
                  <a:schemeClr val="bg1"/>
                </a:solidFill>
              </a:rPr>
              <a:t> and Nam — real noise datasets with different sensor characteristics.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Adaptation Procedure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LAN performs </a:t>
            </a:r>
            <a:r>
              <a:rPr lang="en-IN" b="1" dirty="0">
                <a:solidFill>
                  <a:schemeClr val="bg1"/>
                </a:solidFill>
              </a:rPr>
              <a:t>test-time optimization</a:t>
            </a:r>
            <a:r>
              <a:rPr lang="en-IN" dirty="0">
                <a:solidFill>
                  <a:schemeClr val="bg1"/>
                </a:solidFill>
              </a:rPr>
              <a:t> by adjusting only the noise offset </a:t>
            </a:r>
            <a:r>
              <a:rPr lang="el-GR" dirty="0">
                <a:solidFill>
                  <a:schemeClr val="bg1"/>
                </a:solidFill>
              </a:rPr>
              <a:t>ϕ.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Two stochastic augmentations provide independent noisy views.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The network predicts consistent outputs across views to minimize noise mismatch.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 err="1">
                <a:solidFill>
                  <a:schemeClr val="bg1"/>
                </a:solidFill>
              </a:rPr>
              <a:t>Hyperparameters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Iterations tested:</a:t>
            </a:r>
            <a:r>
              <a:rPr lang="en-IN" dirty="0">
                <a:solidFill>
                  <a:schemeClr val="bg1"/>
                </a:solidFill>
              </a:rPr>
              <a:t> 5, 10, 20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/>
                </a:solidFill>
              </a:rPr>
              <a:t>Optimizer:</a:t>
            </a:r>
            <a:r>
              <a:rPr lang="en-IN" dirty="0">
                <a:solidFill>
                  <a:schemeClr val="bg1"/>
                </a:solidFill>
              </a:rPr>
              <a:t> Adam (learning rate = 1 × 10⁻³)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Higher iterations → slightly better PSNR but more latency.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Comparisons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solidFill>
                  <a:schemeClr val="bg1"/>
                </a:solidFill>
              </a:rPr>
              <a:t>Restormer</a:t>
            </a:r>
            <a:r>
              <a:rPr lang="en-IN" b="1" dirty="0">
                <a:solidFill>
                  <a:schemeClr val="bg1"/>
                </a:solidFill>
              </a:rPr>
              <a:t> vs. </a:t>
            </a:r>
            <a:r>
              <a:rPr lang="en-IN" b="1" dirty="0" err="1">
                <a:solidFill>
                  <a:schemeClr val="bg1"/>
                </a:solidFill>
              </a:rPr>
              <a:t>Restormer</a:t>
            </a:r>
            <a:r>
              <a:rPr lang="en-IN" b="1" dirty="0">
                <a:solidFill>
                  <a:schemeClr val="bg1"/>
                </a:solidFill>
              </a:rPr>
              <a:t>-LAN</a:t>
            </a:r>
            <a:r>
              <a:rPr lang="en-IN" dirty="0">
                <a:solidFill>
                  <a:schemeClr val="bg1"/>
                </a:solidFill>
              </a:rPr>
              <a:t> (heavy backbone)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>
                <a:solidFill>
                  <a:schemeClr val="bg1"/>
                </a:solidFill>
              </a:rPr>
              <a:t>NAFNet</a:t>
            </a:r>
            <a:r>
              <a:rPr lang="en-IN" b="1" dirty="0">
                <a:solidFill>
                  <a:schemeClr val="bg1"/>
                </a:solidFill>
              </a:rPr>
              <a:t> vs. </a:t>
            </a:r>
            <a:r>
              <a:rPr lang="en-IN" b="1" dirty="0" err="1">
                <a:solidFill>
                  <a:schemeClr val="bg1"/>
                </a:solidFill>
              </a:rPr>
              <a:t>NAFNet</a:t>
            </a:r>
            <a:r>
              <a:rPr lang="en-IN" b="1" dirty="0">
                <a:solidFill>
                  <a:schemeClr val="bg1"/>
                </a:solidFill>
              </a:rPr>
              <a:t>-LAN</a:t>
            </a:r>
            <a:r>
              <a:rPr lang="en-IN" dirty="0">
                <a:solidFill>
                  <a:schemeClr val="bg1"/>
                </a:solidFill>
              </a:rPr>
              <a:t> (lightweight backbone)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 </a:t>
            </a:r>
            <a:r>
              <a:rPr lang="en-IN" sz="3600" dirty="0"/>
              <a:t>Results</a:t>
            </a:r>
            <a:endParaRPr lang="en-US" sz="36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2BE88C-2EFA-4A2B-9243-D1DBB29DD2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www.website.com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9C6F3-E4EF-4838-98C2-5EB64FEBBA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A1243F-3000-4347-94A4-FBDEAD3122C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683568" y="1202269"/>
            <a:ext cx="6130717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Table: LAN Performance (SIDD → </a:t>
            </a:r>
            <a:r>
              <a:rPr kumimoji="0" lang="en-US" sz="18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PolyU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10 iterations)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Key Observations: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NAFNet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-LAN ≈ </a:t>
            </a:r>
            <a:r>
              <a:rPr kumimoji="0" 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Restormer</a:t>
            </a:r>
            <a:r>
              <a:rPr kumimoji="0" 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-LAN performance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</a:t>
            </a:r>
            <a:r>
              <a:rPr kumimoji="0" lang="en-US" sz="1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NAFNet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is </a:t>
            </a:r>
            <a:r>
              <a:rPr kumimoji="0" lang="en-US" sz="18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4–5× faster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  LAN boosts both models consistently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3077361"/>
              </p:ext>
            </p:extLst>
          </p:nvPr>
        </p:nvGraphicFramePr>
        <p:xfrm>
          <a:off x="1403648" y="2094762"/>
          <a:ext cx="609600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PSNR 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SSIM ↑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Time (ms) 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Restormer-Pre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38.10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0.895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Restormer-LAN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38.80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0.912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180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NAFNet-Pre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>
                          <a:solidFill>
                            <a:schemeClr val="bg1"/>
                          </a:solidFill>
                        </a:rPr>
                        <a:t>37.70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0.890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b="0" dirty="0" err="1">
                          <a:solidFill>
                            <a:schemeClr val="bg1"/>
                          </a:solidFill>
                        </a:rPr>
                        <a:t>NAFNet</a:t>
                      </a:r>
                      <a:r>
                        <a:rPr lang="en-IN" b="0" dirty="0">
                          <a:solidFill>
                            <a:schemeClr val="bg1"/>
                          </a:solidFill>
                        </a:rPr>
                        <a:t>-LAN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bg1"/>
                          </a:solidFill>
                        </a:rPr>
                        <a:t>38.55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bg1"/>
                          </a:solidFill>
                        </a:rPr>
                        <a:t>0.906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chemeClr val="bg1"/>
                          </a:solidFill>
                        </a:rPr>
                        <a:t>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Image </a:t>
            </a:r>
            <a:r>
              <a:rPr lang="en-IN" sz="3600" dirty="0"/>
              <a:t>Results </a:t>
            </a:r>
            <a:endParaRPr lang="en-US" sz="3600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7506178-583F-4423-9987-AE775F9EA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243F-3000-4347-94A4-FBDEAD3122CB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644" y="1283002"/>
            <a:ext cx="7648575" cy="18383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589" y="5201717"/>
            <a:ext cx="4140708" cy="165628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84" y="3239628"/>
            <a:ext cx="4716713" cy="156978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940152" y="3501008"/>
            <a:ext cx="30243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Takeaway: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LAN improves sharpness and reduces over-smoothing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NAFNet</a:t>
            </a:r>
            <a:r>
              <a:rPr lang="en-US" dirty="0">
                <a:solidFill>
                  <a:schemeClr val="bg1"/>
                </a:solidFill>
              </a:rPr>
              <a:t>-LAN preserves textures with minimal runtime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/>
              <a:t>Findings &amp; Future Enhancements</a:t>
            </a:r>
            <a:endParaRPr lang="en-US" sz="3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15E19-0A19-48F5-975B-046833778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243F-3000-4347-94A4-FBDEAD3122CB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475656" y="1779687"/>
            <a:ext cx="741682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Key Findings: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LAN is </a:t>
            </a:r>
            <a:r>
              <a:rPr lang="en-IN" b="1" dirty="0">
                <a:solidFill>
                  <a:schemeClr val="bg1"/>
                </a:solidFill>
              </a:rPr>
              <a:t>backbone-agnostic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Lightweight </a:t>
            </a:r>
            <a:r>
              <a:rPr lang="en-IN" dirty="0" err="1">
                <a:solidFill>
                  <a:schemeClr val="bg1"/>
                </a:solidFill>
              </a:rPr>
              <a:t>NAFNet</a:t>
            </a:r>
            <a:r>
              <a:rPr lang="en-IN" dirty="0">
                <a:solidFill>
                  <a:schemeClr val="bg1"/>
                </a:solidFill>
              </a:rPr>
              <a:t> with LAN ≈ Heavy </a:t>
            </a:r>
            <a:r>
              <a:rPr lang="en-IN" dirty="0" err="1">
                <a:solidFill>
                  <a:schemeClr val="bg1"/>
                </a:solidFill>
              </a:rPr>
              <a:t>Restormer</a:t>
            </a:r>
            <a:r>
              <a:rPr lang="en-IN" dirty="0">
                <a:solidFill>
                  <a:schemeClr val="bg1"/>
                </a:solidFill>
              </a:rPr>
              <a:t> with 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LAN eliminates the need for retraining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Enables </a:t>
            </a:r>
            <a:r>
              <a:rPr lang="en-IN" b="1" dirty="0">
                <a:solidFill>
                  <a:schemeClr val="bg1"/>
                </a:solidFill>
              </a:rPr>
              <a:t>real-time</a:t>
            </a:r>
            <a:r>
              <a:rPr lang="en-IN" dirty="0">
                <a:solidFill>
                  <a:schemeClr val="bg1"/>
                </a:solidFill>
              </a:rPr>
              <a:t>, </a:t>
            </a:r>
            <a:r>
              <a:rPr lang="en-IN" b="1" dirty="0">
                <a:solidFill>
                  <a:schemeClr val="bg1"/>
                </a:solidFill>
              </a:rPr>
              <a:t>mobile</a:t>
            </a:r>
            <a:r>
              <a:rPr lang="en-IN" dirty="0">
                <a:solidFill>
                  <a:schemeClr val="bg1"/>
                </a:solidFill>
              </a:rPr>
              <a:t>, and </a:t>
            </a:r>
            <a:r>
              <a:rPr lang="en-IN" b="1" dirty="0">
                <a:solidFill>
                  <a:schemeClr val="bg1"/>
                </a:solidFill>
              </a:rPr>
              <a:t>edge-friendly</a:t>
            </a:r>
            <a:r>
              <a:rPr lang="en-IN" dirty="0">
                <a:solidFill>
                  <a:schemeClr val="bg1"/>
                </a:solidFill>
              </a:rPr>
              <a:t> adaptive </a:t>
            </a:r>
            <a:r>
              <a:rPr lang="en-IN" dirty="0" err="1">
                <a:solidFill>
                  <a:schemeClr val="bg1"/>
                </a:solidFill>
              </a:rPr>
              <a:t>denoising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Only 5–10 iterations required for convergence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r>
              <a:rPr lang="en-IN" b="1" dirty="0">
                <a:solidFill>
                  <a:schemeClr val="bg1"/>
                </a:solidFill>
              </a:rPr>
              <a:t>Future Enhancements:</a:t>
            </a:r>
          </a:p>
          <a:p>
            <a:endParaRPr lang="en-IN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Dynamic backbone switching (</a:t>
            </a:r>
            <a:r>
              <a:rPr lang="en-IN" dirty="0" err="1">
                <a:solidFill>
                  <a:schemeClr val="bg1"/>
                </a:solidFill>
              </a:rPr>
              <a:t>Restormer</a:t>
            </a:r>
            <a:r>
              <a:rPr lang="en-IN" dirty="0">
                <a:solidFill>
                  <a:schemeClr val="bg1"/>
                </a:solidFill>
              </a:rPr>
              <a:t> ↔ </a:t>
            </a:r>
            <a:r>
              <a:rPr lang="en-IN" dirty="0" err="1">
                <a:solidFill>
                  <a:schemeClr val="bg1"/>
                </a:solidFill>
              </a:rPr>
              <a:t>NAFNet</a:t>
            </a:r>
            <a:r>
              <a:rPr lang="en-IN" dirty="0">
                <a:solidFill>
                  <a:schemeClr val="bg1"/>
                </a:solidFill>
              </a:rPr>
              <a:t>) based on device resources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Extension of LAN to </a:t>
            </a:r>
            <a:r>
              <a:rPr lang="en-IN" b="1" dirty="0">
                <a:solidFill>
                  <a:schemeClr val="bg1"/>
                </a:solidFill>
              </a:rPr>
              <a:t>video </a:t>
            </a:r>
            <a:r>
              <a:rPr lang="en-IN" b="1" dirty="0" err="1">
                <a:solidFill>
                  <a:schemeClr val="bg1"/>
                </a:solidFill>
              </a:rPr>
              <a:t>denoising</a:t>
            </a:r>
            <a:r>
              <a:rPr lang="en-IN" dirty="0">
                <a:solidFill>
                  <a:schemeClr val="bg1"/>
                </a:solidFill>
              </a:rPr>
              <a:t> with temporal consistency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Apply LAN to </a:t>
            </a:r>
            <a:r>
              <a:rPr lang="en-IN" b="1" dirty="0" err="1">
                <a:solidFill>
                  <a:schemeClr val="bg1"/>
                </a:solidFill>
              </a:rPr>
              <a:t>hyperspectral</a:t>
            </a:r>
            <a:r>
              <a:rPr lang="en-IN" b="1" dirty="0">
                <a:solidFill>
                  <a:schemeClr val="bg1"/>
                </a:solidFill>
              </a:rPr>
              <a:t>, thermal, medical, satellite</a:t>
            </a:r>
            <a:r>
              <a:rPr lang="en-IN" dirty="0">
                <a:solidFill>
                  <a:schemeClr val="bg1"/>
                </a:solidFill>
              </a:rPr>
              <a:t>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Faster adaptation via </a:t>
            </a:r>
            <a:r>
              <a:rPr lang="en-IN" b="1" dirty="0">
                <a:solidFill>
                  <a:schemeClr val="bg1"/>
                </a:solidFill>
              </a:rPr>
              <a:t>meta-learned </a:t>
            </a:r>
            <a:r>
              <a:rPr lang="el-GR" b="1" dirty="0">
                <a:solidFill>
                  <a:schemeClr val="bg1"/>
                </a:solidFill>
              </a:rPr>
              <a:t>ϕ </a:t>
            </a:r>
            <a:r>
              <a:rPr lang="en-IN" b="1" dirty="0">
                <a:solidFill>
                  <a:schemeClr val="bg1"/>
                </a:solidFill>
              </a:rPr>
              <a:t>initialization</a:t>
            </a:r>
            <a:r>
              <a:rPr lang="en-IN" dirty="0">
                <a:solidFill>
                  <a:schemeClr val="bg1"/>
                </a:solidFill>
              </a:rPr>
              <a:t> or low-rank offset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Edge deployment in drones, AR/VR, surveillance cameras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>
          <a:xfrm>
            <a:off x="2627784" y="2917726"/>
            <a:ext cx="4876800" cy="799306"/>
          </a:xfrm>
        </p:spPr>
        <p:txBody>
          <a:bodyPr/>
          <a:lstStyle/>
          <a:p>
            <a:r>
              <a:rPr lang="en-US" dirty="0"/>
              <a:t>THANK YOU…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61CB7FE-4BC2-4768-8C6C-F2EDE3AAC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1243F-3000-4347-94A4-FBDEAD3122CB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Custom 48">
      <a:dk1>
        <a:sysClr val="windowText" lastClr="000000"/>
      </a:dk1>
      <a:lt1>
        <a:sysClr val="window" lastClr="FFFFFF"/>
      </a:lt1>
      <a:dk2>
        <a:srgbClr val="262626"/>
      </a:dk2>
      <a:lt2>
        <a:srgbClr val="F2F2F2"/>
      </a:lt2>
      <a:accent1>
        <a:srgbClr val="C94C25"/>
      </a:accent1>
      <a:accent2>
        <a:srgbClr val="EA8640"/>
      </a:accent2>
      <a:accent3>
        <a:srgbClr val="99D9E7"/>
      </a:accent3>
      <a:accent4>
        <a:srgbClr val="FAB17B"/>
      </a:accent4>
      <a:accent5>
        <a:srgbClr val="21B8B3"/>
      </a:accent5>
      <a:accent6>
        <a:srgbClr val="F3786E"/>
      </a:accent6>
      <a:hlink>
        <a:srgbClr val="646567"/>
      </a:hlink>
      <a:folHlink>
        <a:srgbClr val="646567"/>
      </a:folHlink>
    </a:clrScheme>
    <a:fontScheme name="Custom 27">
      <a:majorFont>
        <a:latin typeface="Segoe UI"/>
        <a:ea typeface=""/>
        <a:cs typeface=""/>
      </a:majorFont>
      <a:minorFont>
        <a:latin typeface="Arial"/>
        <a:ea typeface=""/>
        <a:cs typeface="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110000" t="250000" r="110000" b="40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110000" t="250000" r="110000" b="40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0000"/>
                <a:satMod val="130000"/>
              </a:schemeClr>
              <a:schemeClr val="phClr">
                <a:tint val="70000"/>
                <a:satMod val="130000"/>
              </a:schemeClr>
            </a:duotone>
          </a:blip>
          <a:tile tx="0" ty="0" sx="90000" sy="90000" flip="none" algn="t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167107_Project status report_RVA_v3.potx" id="{4F81F982-6C51-4092-B8D8-4B9E627EB026}" vid="{408BF7D7-5259-4FB8-AB61-68B3FB5EAB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DC31EBE-A492-4CE5-9650-1E2C8FDDD7C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CB47EFB-BDBB-4CE5-A848-1507BE3B7989}">
  <ds:schemaRefs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http://purl.org/dc/dcmitype/"/>
    <ds:schemaRef ds:uri="http://schemas.microsoft.com/office/2006/documentManagement/types"/>
    <ds:schemaRef ds:uri="16c05727-aa75-4e4a-9b5f-8a80a1165891"/>
    <ds:schemaRef ds:uri="http://schemas.openxmlformats.org/package/2006/metadata/core-properties"/>
    <ds:schemaRef ds:uri="71af3243-3dd4-4a8d-8c0d-dd76da1f02a5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B1AD0D4C-03C4-489C-932A-66E2D74FA6D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status report</Template>
  <TotalTime>0</TotalTime>
  <Words>548</Words>
  <Application>Microsoft Macintosh PowerPoint</Application>
  <PresentationFormat>On-screen Show (4:3)</PresentationFormat>
  <Paragraphs>135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Wingdings 2</vt:lpstr>
      <vt:lpstr>Verve</vt:lpstr>
      <vt:lpstr>LAN: Learning to Adapt Noise for Efficient &amp; Scalable Image Denoising</vt:lpstr>
      <vt:lpstr>Motivation / Problem Statement</vt:lpstr>
      <vt:lpstr> Paper Summary</vt:lpstr>
      <vt:lpstr>Methodology</vt:lpstr>
      <vt:lpstr>Experimental Setup</vt:lpstr>
      <vt:lpstr> Results</vt:lpstr>
      <vt:lpstr>Image Results </vt:lpstr>
      <vt:lpstr>Findings &amp; Future Enhancements</vt:lpstr>
      <vt:lpstr>THANK YOU…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2025-11-13T12:24:15Z</dcterms:created>
  <dcterms:modified xsi:type="dcterms:W3CDTF">2025-11-13T13:51:56Z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